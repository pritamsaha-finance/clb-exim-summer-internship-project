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iamond 2"/>
          <p:cNvSpPr/>
          <p:nvPr/>
        </p:nvSpPr>
        <p:spPr>
          <a:xfrm>
            <a:off x="8503920" y="502920"/>
            <a:ext cx="1920240" cy="1920240"/>
          </a:xfrm>
          <a:prstGeom prst="diamond">
            <a:avLst/>
          </a:prstGeom>
          <a:solidFill>
            <a:srgbClr val="C2E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Diamond 3"/>
          <p:cNvSpPr/>
          <p:nvPr/>
        </p:nvSpPr>
        <p:spPr>
          <a:xfrm>
            <a:off x="9875520" y="1188720"/>
            <a:ext cx="1280160" cy="1280160"/>
          </a:xfrm>
          <a:prstGeom prst="diamond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8961120" y="3291840"/>
            <a:ext cx="2468880" cy="2468880"/>
          </a:xfrm>
          <a:prstGeom prst="diamond">
            <a:avLst/>
          </a:prstGeom>
          <a:solidFill>
            <a:srgbClr val="1F5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10241280" y="4480560"/>
            <a:ext cx="914400" cy="914400"/>
          </a:xfrm>
          <a:prstGeom prst="diamond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Diamond 6"/>
          <p:cNvSpPr/>
          <p:nvPr/>
        </p:nvSpPr>
        <p:spPr>
          <a:xfrm>
            <a:off x="7955279" y="4754880"/>
            <a:ext cx="1371600" cy="1371600"/>
          </a:xfrm>
          <a:prstGeom prst="diamond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58368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C2E5D3"/>
                </a:solidFill>
                <a:latin typeface="Aptos"/>
              </a:defRPr>
            </a:pPr>
            <a:r>
              <a:t>SUMMER INTERNSHIP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749807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900" b="1">
                <a:solidFill>
                  <a:srgbClr val="F8FAF9"/>
                </a:solidFill>
                <a:latin typeface="Aptos Display"/>
              </a:defRPr>
            </a:pPr>
            <a:r>
              <a:t>Sustainability &amp; CSR</a:t>
            </a:r>
            <a:br/>
            <a:r>
              <a:t>in International Trade</a:t>
            </a:r>
          </a:p>
          <a:p>
            <a:pPr>
              <a:defRPr sz="1700">
                <a:solidFill>
                  <a:srgbClr val="C2E5D3"/>
                </a:solidFill>
                <a:latin typeface="Aptos"/>
              </a:defRPr>
            </a:pPr>
            <a:r>
              <a:t>A case study of CLB EXIM PVT.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069080"/>
            <a:ext cx="5303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DCE5E7"/>
                </a:solidFill>
                <a:latin typeface="Aptos"/>
              </a:defRPr>
            </a:pPr>
            <a:r>
              <a:t>Prepared by  |  Pritam Saha</a:t>
            </a:r>
          </a:p>
          <a:p>
            <a:pPr>
              <a:spcAft>
                <a:spcPts val="500"/>
              </a:spcAft>
              <a:defRPr sz="1100">
                <a:solidFill>
                  <a:srgbClr val="DCE5E7"/>
                </a:solidFill>
                <a:latin typeface="Aptos"/>
              </a:defRPr>
            </a:pPr>
            <a:r>
              <a:t>MBA • Bengal Institute of Business Studies</a:t>
            </a:r>
          </a:p>
          <a:p>
            <a:pPr>
              <a:spcAft>
                <a:spcPts val="500"/>
              </a:spcAft>
              <a:defRPr sz="1100">
                <a:solidFill>
                  <a:srgbClr val="DCE5E7"/>
                </a:solidFill>
                <a:latin typeface="Aptos"/>
              </a:defRPr>
            </a:pPr>
            <a:r>
              <a:t>Vidyasagar University • 2024–2026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0" cy="54864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C2E5D3"/>
                </a:solidFill>
                <a:latin typeface="Aptos"/>
              </a:defRPr>
            </a:pPr>
            <a:r>
              <a:t>01 • EXECUTIVE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9"/>
                </a:solidFill>
                <a:latin typeface="Aptos Display"/>
              </a:defRPr>
            </a:pPr>
            <a:r>
              <a:t>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2471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7A9B1"/>
                </a:solidFill>
                <a:latin typeface="Aptos"/>
              </a:defRPr>
            </a:pPr>
            <a:r>
              <a:t>What the study examines, what the evidence indicates, and why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7548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500" b="1">
                <a:solidFill>
                  <a:srgbClr val="324B54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429000" cy="15087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64008" cy="1508760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2938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The business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59152"/>
            <a:ext cx="30632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DCE5E7"/>
                </a:solidFill>
                <a:latin typeface="Aptos"/>
              </a:defRPr>
            </a:pPr>
            <a:r>
              <a:t>Global trade increasingly links profitability with environmental responsibility, ethical labour and stakeholder trust.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24528" y="1783080"/>
            <a:ext cx="3429000" cy="15087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24528" y="1783080"/>
            <a:ext cx="64008" cy="1508760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25696" y="192938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The study lens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25696" y="2359152"/>
            <a:ext cx="30632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DCE5E7"/>
                </a:solidFill>
                <a:latin typeface="Aptos"/>
              </a:defRPr>
            </a:pPr>
            <a:r>
              <a:t>CLB EXIM is assessed across ethical sourcing, environmental practices, employee welfare, governance and stakeholder engagement.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54696" y="1783080"/>
            <a:ext cx="3429000" cy="15087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854696" y="1783080"/>
            <a:ext cx="64008" cy="1508760"/>
          </a:xfrm>
          <a:prstGeom prst="rect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55864" y="1929384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The strategic question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2359152"/>
            <a:ext cx="306324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DCE5E7"/>
                </a:solidFill>
                <a:latin typeface="Aptos"/>
              </a:defRPr>
            </a:pPr>
            <a:r>
              <a:t>How can a growing mica exporter scale international trade while maintaining responsible and traceable operations?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703320"/>
            <a:ext cx="10689336" cy="2240280"/>
          </a:xfrm>
          <a:prstGeom prst="roundRect">
            <a:avLst/>
          </a:prstGeom>
          <a:solidFill>
            <a:srgbClr val="10333D"/>
          </a:solidFill>
          <a:ln>
            <a:solidFill>
              <a:srgbClr val="14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10149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2E5D3"/>
                </a:solidFill>
                <a:latin typeface="Aptos Display"/>
              </a:defRPr>
            </a:pPr>
            <a:r>
              <a:t>Core takeaway</a:t>
            </a:r>
          </a:p>
          <a:p>
            <a:pPr>
              <a:spcBef>
                <a:spcPts val="800"/>
              </a:spcBef>
              <a:defRPr sz="1600">
                <a:solidFill>
                  <a:srgbClr val="F8FAF9"/>
                </a:solidFill>
                <a:latin typeface="Aptos"/>
              </a:defRPr>
            </a:pPr>
            <a:r>
              <a:t>The report presents CLB EXIM as a company with a proactive sustainability orientation—supported by ethical sourcing, environmental initiatives, stakeholder engagement and international CSR frameworks—while highlighting traceability, technology, measurement and cost pressures as the main scaling challenges.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0" cy="54864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C2E5D3"/>
                </a:solidFill>
                <a:latin typeface="Aptos"/>
              </a:defRPr>
            </a:pPr>
            <a:r>
              <a:t>02 • BUSINESS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9"/>
                </a:solidFill>
                <a:latin typeface="Aptos Display"/>
              </a:defRPr>
            </a:pPr>
            <a:r>
              <a:t>CLB EXIM &amp; the Mica 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2471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7A9B1"/>
                </a:solidFill>
                <a:latin typeface="Aptos"/>
              </a:defRPr>
            </a:pPr>
            <a:r>
              <a:t>Company profile, product focus and market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7548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500" b="1">
                <a:solidFill>
                  <a:srgbClr val="324B54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4892040" cy="434340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691640"/>
            <a:ext cx="64008" cy="4343400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837944"/>
            <a:ext cx="45262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9"/>
                </a:solidFill>
                <a:latin typeface="Aptos Display"/>
              </a:defRPr>
            </a:pPr>
            <a:r>
              <a:t>CLB EXIM at a glance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67712"/>
            <a:ext cx="4526279" cy="3630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CE5E7"/>
                </a:solidFill>
                <a:latin typeface="Aptos"/>
              </a:defRPr>
            </a:pPr>
            <a:r>
              <a:t>Founded in 2018 in Kolkata by Mr. G. Bagaria, CLB EXIM operates in mica manufacturing and exports. The company focuses on specialized, quality-oriented products rather than competing purely on volume.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880360"/>
            <a:ext cx="4251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200">
                <a:solidFill>
                  <a:srgbClr val="DCE5E7"/>
                </a:solidFill>
                <a:latin typeface="Aptos"/>
              </a:defRPr>
            </a:pPr>
            <a:r>
              <a:t>• Mica blocks, thins and condenser films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200">
                <a:solidFill>
                  <a:srgbClr val="DCE5E7"/>
                </a:solidFill>
                <a:latin typeface="Aptos"/>
              </a:defRPr>
            </a:pPr>
            <a:r>
              <a:t>• Mica powder, flakes and fabricated mica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200">
                <a:solidFill>
                  <a:srgbClr val="DCE5E7"/>
                </a:solidFill>
                <a:latin typeface="Aptos"/>
              </a:defRPr>
            </a:pPr>
            <a:r>
              <a:t>• Micanite and precision insulation components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200">
                <a:solidFill>
                  <a:srgbClr val="DCE5E7"/>
                </a:solidFill>
                <a:latin typeface="Aptos"/>
              </a:defRPr>
            </a:pPr>
            <a:r>
              <a:t>• Value-added products: washers, cut mica, transistor insulation parts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15000" y="1691640"/>
            <a:ext cx="5559552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0" y="1691640"/>
            <a:ext cx="64008" cy="1143000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16168" y="1837944"/>
            <a:ext cx="5193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Industry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16168" y="2267712"/>
            <a:ext cx="519379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DCE5E7"/>
                </a:solidFill>
                <a:latin typeface="Aptos"/>
              </a:defRPr>
            </a:pPr>
            <a:r>
              <a:t>Global mica market: &gt; USD 650M in 2024; projected ~4% CAGR to 2032.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3063240"/>
            <a:ext cx="1691640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9592" y="322783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AB058"/>
                </a:solidFill>
                <a:latin typeface="Aptos Display"/>
              </a:defRPr>
            </a:pPr>
            <a:r>
              <a:t>$21M+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9592" y="37764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7A9B1"/>
                </a:solidFill>
                <a:latin typeface="Aptos"/>
              </a:defRPr>
            </a:pPr>
            <a:r>
              <a:t>India mica exports • 2024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43800" y="3063240"/>
            <a:ext cx="1691640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08392" y="3227832"/>
            <a:ext cx="1371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7A74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08392" y="3776472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7A9B1"/>
                </a:solidFill>
                <a:latin typeface="Aptos"/>
              </a:defRPr>
            </a:pPr>
            <a:r>
              <a:t>CLB EXIM shipments • 2024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72600" y="3063240"/>
            <a:ext cx="1901952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37192" y="3227832"/>
            <a:ext cx="158191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499C75"/>
                </a:solidFill>
                <a:latin typeface="Aptos Display"/>
              </a:defRPr>
            </a:pPr>
            <a:r>
              <a:t>$2,732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3776472"/>
            <a:ext cx="158191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7A9B1"/>
                </a:solidFill>
                <a:latin typeface="Aptos"/>
              </a:defRPr>
            </a:pPr>
            <a:r>
              <a:t>Reported export value • 2024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4480560"/>
            <a:ext cx="5559552" cy="155448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715000" y="4480560"/>
            <a:ext cx="64008" cy="1554480"/>
          </a:xfrm>
          <a:prstGeom prst="rect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16168" y="4626864"/>
            <a:ext cx="519379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Market positioning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16168" y="5056632"/>
            <a:ext cx="5193792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CE5E7"/>
                </a:solidFill>
                <a:latin typeface="Aptos"/>
              </a:defRPr>
            </a:pPr>
            <a:r>
              <a:t>Emerging niche exporter • primary markets noted: Russia, Nigeria and Zambia • low-volume, high-customization strategy • selected partnerships with large international buyers.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0" cy="54864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C2E5D3"/>
                </a:solidFill>
                <a:latin typeface="Aptos"/>
              </a:defRPr>
            </a:pPr>
            <a:r>
              <a:t>03 •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9"/>
                </a:solidFill>
                <a:latin typeface="Aptos Display"/>
              </a:defRPr>
            </a:pPr>
            <a:r>
              <a:t>Research Design &amp;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2471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7A9B1"/>
                </a:solidFill>
                <a:latin typeface="Aptos"/>
              </a:defRPr>
            </a:pPr>
            <a:r>
              <a:t>Mixed-method approach combining stakeholder evidence with secondary research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7548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500" b="1">
                <a:solidFill>
                  <a:srgbClr val="324B54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1874519"/>
            <a:ext cx="621792" cy="621792"/>
          </a:xfrm>
          <a:prstGeom prst="ellipse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947672"/>
            <a:ext cx="62179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9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97480"/>
            <a:ext cx="2487168" cy="141732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2697480"/>
            <a:ext cx="64008" cy="1417320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2843784"/>
            <a:ext cx="2121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Research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73552"/>
            <a:ext cx="212140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CE5E7"/>
                </a:solidFill>
                <a:latin typeface="Aptos"/>
              </a:defRPr>
            </a:pPr>
            <a:r>
              <a:t>Exploratory + descriptive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2139696"/>
            <a:ext cx="301752" cy="32004"/>
          </a:xfrm>
          <a:prstGeom prst="rect">
            <a:avLst/>
          </a:prstGeom>
          <a:solidFill>
            <a:srgbClr val="3E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74720" y="1874519"/>
            <a:ext cx="621792" cy="621792"/>
          </a:xfrm>
          <a:prstGeom prst="ellipse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1947672"/>
            <a:ext cx="62179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9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2697480"/>
            <a:ext cx="2487168" cy="141732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474720" y="2697480"/>
            <a:ext cx="64008" cy="1417320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75887" y="2843784"/>
            <a:ext cx="2121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Primary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3273552"/>
            <a:ext cx="212140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CE5E7"/>
                </a:solidFill>
                <a:latin typeface="Aptos"/>
              </a:defRPr>
            </a:pPr>
            <a:r>
              <a:t>Interviews, questionnaires, direct observation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61888" y="2139696"/>
            <a:ext cx="301752" cy="32004"/>
          </a:xfrm>
          <a:prstGeom prst="rect">
            <a:avLst/>
          </a:prstGeom>
          <a:solidFill>
            <a:srgbClr val="3E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63640" y="1874519"/>
            <a:ext cx="621792" cy="621792"/>
          </a:xfrm>
          <a:prstGeom prst="ellipse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1947672"/>
            <a:ext cx="62179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9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2697480"/>
            <a:ext cx="2487168" cy="141732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263640" y="2697480"/>
            <a:ext cx="64008" cy="1417320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64807" y="2843784"/>
            <a:ext cx="2121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Secondary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7" y="3273552"/>
            <a:ext cx="212140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CE5E7"/>
                </a:solidFill>
                <a:latin typeface="Aptos"/>
              </a:defRPr>
            </a:pPr>
            <a:r>
              <a:t>Company documents, policies, government guidance, journals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50808" y="2139696"/>
            <a:ext cx="301752" cy="32004"/>
          </a:xfrm>
          <a:prstGeom prst="rect">
            <a:avLst/>
          </a:prstGeom>
          <a:solidFill>
            <a:srgbClr val="3E5B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052559" y="1874519"/>
            <a:ext cx="621792" cy="621792"/>
          </a:xfrm>
          <a:prstGeom prst="ellipse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52559" y="1947672"/>
            <a:ext cx="621792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8FAF9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52559" y="2697480"/>
            <a:ext cx="2487168" cy="141732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052559" y="2697480"/>
            <a:ext cx="64008" cy="1417320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53728" y="2843784"/>
            <a:ext cx="21214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Analysis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3728" y="3273552"/>
            <a:ext cx="212140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DCE5E7"/>
                </a:solidFill>
                <a:latin typeface="Aptos"/>
              </a:defRPr>
            </a:pPr>
            <a:r>
              <a:t>Thematic qualitative analysis + basic quantitative summaries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4572000"/>
            <a:ext cx="5212080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85800" y="4572000"/>
            <a:ext cx="64008" cy="1143000"/>
          </a:xfrm>
          <a:prstGeom prst="rect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86968" y="4718304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Purposive sample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" y="5148072"/>
            <a:ext cx="48463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DCE5E7"/>
                </a:solidFill>
                <a:latin typeface="Aptos"/>
              </a:defRPr>
            </a:pPr>
            <a:r>
              <a:t>5 senior managers • 10 mid-level employees • 5 international customers • 5 suppliers/external partners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4572000"/>
            <a:ext cx="5349240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126480" y="4572000"/>
            <a:ext cx="64008" cy="1143000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327648" y="4718304"/>
            <a:ext cx="498347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Ethics &amp; limitations built into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27648" y="5148072"/>
            <a:ext cx="4983479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DCE5E7"/>
                </a:solidFill>
                <a:latin typeface="Aptos"/>
              </a:defRPr>
            </a:pPr>
            <a:r>
              <a:t>Voluntary participation, confidentiality, anonymized responses and acknowledgement of small-sample / access constraints.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0" cy="54864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C2E5D3"/>
                </a:solidFill>
                <a:latin typeface="Aptos"/>
              </a:defRPr>
            </a:pPr>
            <a:r>
              <a:t>04 •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9"/>
                </a:solidFill>
                <a:latin typeface="Aptos Display"/>
              </a:defRPr>
            </a:pPr>
            <a:r>
              <a:t>Trade Data &amp; Sustainability Signals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2471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7A9B1"/>
                </a:solidFill>
                <a:latin typeface="Aptos"/>
              </a:defRPr>
            </a:pPr>
            <a:r>
              <a:t>What the available trade data shows—and what it does not 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7548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500" b="1">
                <a:solidFill>
                  <a:srgbClr val="324B54"/>
                </a:solidFill>
                <a:latin typeface="Aptos Display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37360"/>
            <a:ext cx="2377440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9019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7A74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450591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7A9B1"/>
                </a:solidFill>
                <a:latin typeface="Aptos"/>
              </a:defRPr>
            </a:pPr>
            <a:r>
              <a:t>International export shipments •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737360"/>
            <a:ext cx="2377440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56432" y="19019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499C75"/>
                </a:solidFill>
                <a:latin typeface="Aptos Display"/>
              </a:defRPr>
            </a:pPr>
            <a:r>
              <a:t>$2,732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450591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7A9B1"/>
                </a:solidFill>
                <a:latin typeface="Aptos"/>
              </a:defRPr>
            </a:pPr>
            <a:r>
              <a:t>Reported export value • 2024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737360"/>
            <a:ext cx="2377440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62472" y="19019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DAB058"/>
                </a:solidFill>
                <a:latin typeface="Aptos Display"/>
              </a:defRPr>
            </a:pPr>
            <a:r>
              <a:t>HSN 25251010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450591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7A9B1"/>
                </a:solidFill>
                <a:latin typeface="Aptos"/>
              </a:defRPr>
            </a:pPr>
            <a:r>
              <a:t>Muscovite mica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03920" y="1737360"/>
            <a:ext cx="2377440" cy="114300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68512" y="1901952"/>
            <a:ext cx="2057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7A74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8512" y="2450591"/>
            <a:ext cx="2057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7A9B1"/>
                </a:solidFill>
                <a:latin typeface="Aptos"/>
              </a:defRPr>
            </a:pPr>
            <a:r>
              <a:t>Primary target countries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246120"/>
            <a:ext cx="3383280" cy="15087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85800" y="3246120"/>
            <a:ext cx="64008" cy="1508760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" y="339242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Russia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822191"/>
            <a:ext cx="30175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CE5E7"/>
                </a:solidFill>
                <a:latin typeface="Aptos"/>
              </a:defRPr>
            </a:pPr>
            <a:r>
              <a:t>Primary target market identified in the report.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8" y="3246120"/>
            <a:ext cx="3383280" cy="15087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07408" y="3246120"/>
            <a:ext cx="64008" cy="1508760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08576" y="339242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Nigeria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3822191"/>
            <a:ext cx="30175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CE5E7"/>
                </a:solidFill>
                <a:latin typeface="Aptos"/>
              </a:defRPr>
            </a:pPr>
            <a:r>
              <a:t>Emerging-market destination identified in the report.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29016" y="3246120"/>
            <a:ext cx="3383280" cy="15087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29016" y="3246120"/>
            <a:ext cx="64008" cy="1508760"/>
          </a:xfrm>
          <a:prstGeom prst="rect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30184" y="3392424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Zambia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822191"/>
            <a:ext cx="3017520" cy="795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CE5E7"/>
                </a:solidFill>
                <a:latin typeface="Aptos"/>
              </a:defRPr>
            </a:pPr>
            <a:r>
              <a:t>Emerging-market destination identified in the report.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074920"/>
            <a:ext cx="10826496" cy="932688"/>
          </a:xfrm>
          <a:prstGeom prst="roundRect">
            <a:avLst/>
          </a:prstGeom>
          <a:solidFill>
            <a:srgbClr val="2D2B22"/>
          </a:solidFill>
          <a:ln>
            <a:solidFill>
              <a:srgbClr val="DAB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285232"/>
            <a:ext cx="10186416" cy="43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20">
                <a:solidFill>
                  <a:srgbClr val="F8FAF9"/>
                </a:solidFill>
                <a:latin typeface="Aptos"/>
              </a:defRPr>
            </a:pPr>
            <a:r>
              <a:rPr dirty="0"/>
              <a:t>Analytical caution: the report notes that raw shipment data does not explicitly verify </a:t>
            </a:r>
            <a:r>
              <a:rPr dirty="0" err="1"/>
              <a:t>labour</a:t>
            </a:r>
            <a:r>
              <a:rPr dirty="0"/>
              <a:t> conditions, mining sources or environmental offsets. Stronger public sustainability metrics would improve transparency.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0" cy="54864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C2E5D3"/>
                </a:solidFill>
                <a:latin typeface="Aptos"/>
              </a:defRPr>
            </a:pPr>
            <a:r>
              <a:t>05 •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9"/>
                </a:solidFill>
                <a:latin typeface="Aptos Display"/>
              </a:defRPr>
            </a:pPr>
            <a:r>
              <a:t>CSR &amp; Sustainability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2471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7A9B1"/>
                </a:solidFill>
                <a:latin typeface="Aptos"/>
              </a:defRPr>
            </a:pPr>
            <a:r>
              <a:t>Four pillars emerging from the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7548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500" b="1">
                <a:solidFill>
                  <a:srgbClr val="324B54"/>
                </a:solidFill>
                <a:latin typeface="Aptos Display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5166360" cy="178308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9536" y="1947672"/>
            <a:ext cx="530352" cy="530352"/>
          </a:xfrm>
          <a:prstGeom prst="ellipse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2020824"/>
            <a:ext cx="5303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8FAF9"/>
                </a:solidFill>
                <a:latin typeface="Aptos Display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2768" y="1938528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9"/>
                </a:solidFill>
                <a:latin typeface="Aptos Display"/>
              </a:defRPr>
            </a:pPr>
            <a:r>
              <a:t>ETHICAL SOURCING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2769" y="2377439"/>
            <a:ext cx="3782872" cy="40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>
                <a:solidFill>
                  <a:srgbClr val="DCE5E7"/>
                </a:solidFill>
                <a:latin typeface="Aptos"/>
              </a:defRPr>
            </a:pPr>
            <a:r>
              <a:t>Supplier audits, traceability records, labour standards and a stated zero-tolerance stance on child labour.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737360"/>
            <a:ext cx="5166360" cy="178308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391655" y="1947672"/>
            <a:ext cx="530352" cy="530352"/>
          </a:xfrm>
          <a:prstGeom prst="ellipse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91655" y="2020824"/>
            <a:ext cx="5303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8FAF9"/>
                </a:solidFill>
                <a:latin typeface="Aptos Display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4888" y="1938528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9"/>
                </a:solidFill>
                <a:latin typeface="Aptos Display"/>
              </a:defRPr>
            </a:pPr>
            <a:r>
              <a:t>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4888" y="2377439"/>
            <a:ext cx="3758183" cy="40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>
                <a:solidFill>
                  <a:srgbClr val="DCE5E7"/>
                </a:solidFill>
                <a:latin typeface="Aptos"/>
              </a:defRPr>
            </a:pPr>
            <a:r>
              <a:t>Energy-efficient processing, water recycling, waste controls, dust reduction and green logistics.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86200"/>
            <a:ext cx="5166360" cy="178308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9536" y="4096512"/>
            <a:ext cx="530352" cy="530352"/>
          </a:xfrm>
          <a:prstGeom prst="ellipse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" y="4169664"/>
            <a:ext cx="5303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8FAF9"/>
                </a:solidFill>
                <a:latin typeface="Aptos Display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4087368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9"/>
                </a:solidFill>
                <a:latin typeface="Aptos Display"/>
              </a:defRPr>
            </a:pPr>
            <a:r>
              <a:t>PEOPLE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9" y="4526280"/>
            <a:ext cx="3782872" cy="40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>
                <a:solidFill>
                  <a:srgbClr val="DCE5E7"/>
                </a:solidFill>
                <a:latin typeface="Aptos"/>
              </a:defRPr>
            </a:pPr>
            <a:r>
              <a:t>Health &amp; safety, PPE, health camps, education, skill development and community infrastructure support.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886200"/>
            <a:ext cx="5166360" cy="178308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91655" y="4096512"/>
            <a:ext cx="530352" cy="530352"/>
          </a:xfrm>
          <a:prstGeom prst="ellipse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91655" y="4169664"/>
            <a:ext cx="530352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F8FAF9"/>
                </a:solidFill>
                <a:latin typeface="Aptos Display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04888" y="4087368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8FAF9"/>
                </a:solidFill>
                <a:latin typeface="Aptos Display"/>
              </a:defRPr>
            </a:pPr>
            <a:r>
              <a:t>GOVERNANCE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4526280"/>
            <a:ext cx="3639312" cy="409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30">
                <a:solidFill>
                  <a:srgbClr val="DCE5E7"/>
                </a:solidFill>
                <a:latin typeface="Aptos"/>
              </a:defRPr>
            </a:pPr>
            <a:r>
              <a:rPr dirty="0"/>
              <a:t>CSR policies, senior oversight, sustainability reporting, external audits and alignment with global norms.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0807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2E5D3"/>
                </a:solidFill>
                <a:latin typeface="Aptos"/>
              </a:defRPr>
            </a:pPr>
            <a:r>
              <a:t>Overall assessment in the report: strong direction of travel, but deeper supply-chain verification and measurable impact evidence remain important.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0" cy="54864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C2E5D3"/>
                </a:solidFill>
                <a:latin typeface="Aptos"/>
              </a:defRPr>
            </a:pPr>
            <a:r>
              <a:t>06 • STRATEGIC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9"/>
                </a:solidFill>
                <a:latin typeface="Aptos Display"/>
              </a:defRPr>
            </a:pPr>
            <a:r>
              <a:t>International Standards &amp; Competitive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2471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7A9B1"/>
                </a:solidFill>
                <a:latin typeface="Aptos"/>
              </a:defRPr>
            </a:pPr>
            <a:r>
              <a:t>CSR as a market-access and risk-management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7548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500" b="1">
                <a:solidFill>
                  <a:srgbClr val="324B54"/>
                </a:solidFill>
                <a:latin typeface="Aptos Display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3246120" cy="155448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64008" cy="1554480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183794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UN Global Compact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67712"/>
            <a:ext cx="288036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CE5E7"/>
                </a:solidFill>
                <a:latin typeface="Aptos"/>
              </a:defRPr>
            </a:pPr>
            <a:r>
              <a:t>Human rights • labour • environment • anti-corruption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7" y="1691640"/>
            <a:ext cx="3246120" cy="155448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133087" y="1691640"/>
            <a:ext cx="64008" cy="1554480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34255" y="183794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UN SDGs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34255" y="2267712"/>
            <a:ext cx="288036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CE5E7"/>
                </a:solidFill>
                <a:latin typeface="Aptos"/>
              </a:defRPr>
            </a:pPr>
            <a:r>
              <a:t>Focus highlighted: SDG 8 • SDG 12 • SDG 13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0375" y="1691640"/>
            <a:ext cx="3246120" cy="155448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580375" y="1691640"/>
            <a:ext cx="64008" cy="1554480"/>
          </a:xfrm>
          <a:prstGeom prst="rect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81544" y="1837944"/>
            <a:ext cx="2880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9"/>
                </a:solidFill>
                <a:latin typeface="Aptos Display"/>
              </a:defRPr>
            </a:pPr>
            <a:r>
              <a:t>ILO Guidelines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81544" y="2267712"/>
            <a:ext cx="2880360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DCE5E7"/>
                </a:solidFill>
                <a:latin typeface="Aptos"/>
              </a:defRPr>
            </a:pPr>
            <a:r>
              <a:t>Decent work, labour rights and occupational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703320"/>
            <a:ext cx="48920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DCE5E7"/>
                </a:solidFill>
                <a:latin typeface="Aptos"/>
              </a:defRPr>
            </a:pPr>
            <a:r>
              <a:t>• Lower compliance and reputational risk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DCE5E7"/>
                </a:solidFill>
                <a:latin typeface="Aptos"/>
              </a:defRPr>
            </a:pPr>
            <a:r>
              <a:t>• Greater buyer confidence through transparent practices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DCE5E7"/>
                </a:solidFill>
                <a:latin typeface="Aptos"/>
              </a:defRPr>
            </a:pPr>
            <a:r>
              <a:t>• Potential access to sustainability-sensitive markets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DCE5E7"/>
                </a:solidFill>
                <a:latin typeface="Aptos"/>
              </a:defRPr>
            </a:pPr>
            <a:r>
              <a:t>• Differentiation through ethical sourcing and value-added products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300">
                <a:solidFill>
                  <a:srgbClr val="DCE5E7"/>
                </a:solidFill>
                <a:latin typeface="Aptos"/>
              </a:defRPr>
            </a:pPr>
            <a:r>
              <a:t>• Stronger stakeholder relationships and long-term resilience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0760" y="3657600"/>
            <a:ext cx="4709160" cy="749808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60" y="3657600"/>
            <a:ext cx="64008" cy="749808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81928" y="3803904"/>
            <a:ext cx="4343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9"/>
                </a:solidFill>
                <a:latin typeface="Aptos Display"/>
              </a:defRPr>
            </a:pPr>
            <a:r>
              <a:t>RESPONSIBLE PRACTICES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4526280"/>
            <a:ext cx="4709160" cy="749808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080760" y="4526280"/>
            <a:ext cx="64008" cy="749808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81928" y="4672584"/>
            <a:ext cx="4343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9"/>
                </a:solidFill>
                <a:latin typeface="Aptos Display"/>
              </a:defRPr>
            </a:pPr>
            <a:r>
              <a:t>TRUST + CREDIBILITY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5394960"/>
            <a:ext cx="4709160" cy="749808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080760" y="5394960"/>
            <a:ext cx="64008" cy="749808"/>
          </a:xfrm>
          <a:prstGeom prst="rect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81928" y="5541264"/>
            <a:ext cx="43434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8FAF9"/>
                </a:solidFill>
                <a:latin typeface="Aptos Display"/>
              </a:defRPr>
            </a:pPr>
            <a:r>
              <a:t>MARKET ACCESS + DIFFERENTIATION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0" cy="54864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C2E5D3"/>
                </a:solidFill>
                <a:latin typeface="Aptos"/>
              </a:defRPr>
            </a:pPr>
            <a:r>
              <a:t>07 •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9"/>
                </a:solidFill>
                <a:latin typeface="Aptos Display"/>
              </a:defRPr>
            </a:pPr>
            <a:r>
              <a:t>Key Challenges &amp; Risk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2471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7A9B1"/>
                </a:solidFill>
                <a:latin typeface="Aptos"/>
              </a:defRPr>
            </a:pPr>
            <a:r>
              <a:t>Where implementation becomes difficult at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7548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500" b="1">
                <a:solidFill>
                  <a:srgbClr val="324B54"/>
                </a:solidFill>
                <a:latin typeface="Aptos Display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91640"/>
            <a:ext cx="3401568" cy="17373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8368" y="1691640"/>
            <a:ext cx="64008" cy="1737360"/>
          </a:xfrm>
          <a:prstGeom prst="rect">
            <a:avLst/>
          </a:prstGeom>
          <a:solidFill>
            <a:srgbClr val="CE6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37944"/>
            <a:ext cx="3035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Supply-chain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267712"/>
            <a:ext cx="3035808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DCE5E7"/>
                </a:solidFill>
                <a:latin typeface="Aptos"/>
              </a:defRPr>
            </a:pPr>
            <a:r>
              <a:t>Second- and third-tier suppliers, informal mining and intermediaries reduce visibility.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691640"/>
            <a:ext cx="3401568" cy="17373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7" y="1691640"/>
            <a:ext cx="64008" cy="1737360"/>
          </a:xfrm>
          <a:prstGeom prst="rect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5" y="1837944"/>
            <a:ext cx="3035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Technology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5" y="2267712"/>
            <a:ext cx="3035808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DCE5E7"/>
                </a:solidFill>
                <a:latin typeface="Aptos"/>
              </a:defRPr>
            </a:pPr>
            <a:r>
              <a:t>Remote areas may lack connectivity, electricity and digital literacy for real-time tracking.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691640"/>
            <a:ext cx="3401568" cy="17373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56448" y="1691640"/>
            <a:ext cx="64008" cy="1737360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57616" y="1837944"/>
            <a:ext cx="3035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Impact measurement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267712"/>
            <a:ext cx="3035808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DCE5E7"/>
                </a:solidFill>
                <a:latin typeface="Aptos"/>
              </a:defRPr>
            </a:pPr>
            <a:r>
              <a:t>Outputs are easier to count than long-term health, education and environmental outcomes.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794760"/>
            <a:ext cx="3401568" cy="17373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794760"/>
            <a:ext cx="64008" cy="1737360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9536" y="3941064"/>
            <a:ext cx="3035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Regulatory inconsistency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" y="4370832"/>
            <a:ext cx="3035808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DCE5E7"/>
                </a:solidFill>
                <a:latin typeface="Aptos"/>
              </a:defRPr>
            </a:pPr>
            <a:r>
              <a:t>Enforcement and oversight can vary across decentralized mining regions.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07407" y="3794760"/>
            <a:ext cx="3401568" cy="17373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07407" y="3794760"/>
            <a:ext cx="64008" cy="1737360"/>
          </a:xfrm>
          <a:prstGeom prst="rect">
            <a:avLst/>
          </a:prstGeom>
          <a:solidFill>
            <a:srgbClr val="CE6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08575" y="3941064"/>
            <a:ext cx="3035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Cost &amp; trade volatility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5" y="4370832"/>
            <a:ext cx="3035808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DCE5E7"/>
                </a:solidFill>
                <a:latin typeface="Aptos"/>
              </a:defRPr>
            </a:pPr>
            <a:r>
              <a:t>Price sensitivity, currency moves and geopolitical shocks can pressure sustainability budgets.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56448" y="3794760"/>
            <a:ext cx="3401568" cy="173736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156448" y="3794760"/>
            <a:ext cx="64008" cy="1737360"/>
          </a:xfrm>
          <a:prstGeom prst="rect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57616" y="3941064"/>
            <a:ext cx="3035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Social realities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4370832"/>
            <a:ext cx="3035808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80">
                <a:solidFill>
                  <a:srgbClr val="DCE5E7"/>
                </a:solidFill>
                <a:latin typeface="Aptos"/>
              </a:defRPr>
            </a:pPr>
            <a:r>
              <a:t>Poverty, low awareness and livelihood dependence can slow behavioural change.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89788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C2E5D3"/>
                </a:solidFill>
                <a:latin typeface="Aptos Display"/>
              </a:defRPr>
            </a:pPr>
            <a:r>
              <a:t>Management implication: sustainability needs to be treated as a resilience capability—not a discretionary cost.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0" cy="54864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C2E5D3"/>
                </a:solidFill>
                <a:latin typeface="Aptos"/>
              </a:defRPr>
            </a:pPr>
            <a:r>
              <a:t>08 •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9"/>
                </a:solidFill>
                <a:latin typeface="Aptos Display"/>
              </a:defRPr>
            </a:pPr>
            <a:r>
              <a:t>Recommendations &amp; 12–24 Month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2471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7A9B1"/>
                </a:solidFill>
                <a:latin typeface="Aptos"/>
              </a:defRPr>
            </a:pPr>
            <a:r>
              <a:t>Priorities translated into practical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7548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500" b="1">
                <a:solidFill>
                  <a:srgbClr val="324B54"/>
                </a:solidFill>
                <a:latin typeface="Aptos Display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37360"/>
            <a:ext cx="3401568" cy="425196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93852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47A74"/>
                </a:solidFill>
                <a:latin typeface="Aptos"/>
              </a:defRPr>
            </a:pPr>
            <a:r>
              <a:t>0–6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286000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9"/>
                </a:solidFill>
                <a:latin typeface="Aptos Display"/>
              </a:defRPr>
            </a:pPr>
            <a:r>
              <a:t>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907792"/>
            <a:ext cx="29077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Define CSR KPI dashboard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Map direct + indirect suppliers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Formalize supplier code &amp; audit cadence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Create dedicated sustainability budget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7" y="1737360"/>
            <a:ext cx="3401568" cy="425196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08575" y="193852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499C75"/>
                </a:solidFill>
                <a:latin typeface="Aptos"/>
              </a:defRPr>
            </a:pPr>
            <a:r>
              <a:t>6–12 MONTHS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5" y="2286000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9"/>
                </a:solidFill>
                <a:latin typeface="Aptos Display"/>
              </a:defRPr>
            </a:pPr>
            <a:r>
              <a:t>DIGITAL + PEOPLE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5" y="2907792"/>
            <a:ext cx="29077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Pilot mobile/blockchain traceability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Expand worker/community training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Partner with NGOs &amp; government bodies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Publish clearer sustainability metrics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737360"/>
            <a:ext cx="3401568" cy="4251960"/>
          </a:xfrm>
          <a:prstGeom prst="roundRect">
            <a:avLst/>
          </a:prstGeom>
          <a:solidFill>
            <a:srgbClr val="122738"/>
          </a:solidFill>
          <a:ln>
            <a:solidFill>
              <a:srgbClr val="2D4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57616" y="1938528"/>
            <a:ext cx="2926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DAB058"/>
                </a:solidFill>
                <a:latin typeface="Aptos"/>
              </a:defRPr>
            </a:pPr>
            <a:r>
              <a:t>12–24 MONTHS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7616" y="2286000"/>
            <a:ext cx="2926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8FAF9"/>
                </a:solidFill>
                <a:latin typeface="Aptos Display"/>
              </a:defRPr>
            </a:pPr>
            <a:r>
              <a:t>SCALE + DIFFERENTIATE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907792"/>
            <a:ext cx="290779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Extend traceability across tiers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Strengthen third-party assurance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Diversify export markets</a:t>
            </a:r>
          </a:p>
          <a:p>
            <a:pPr>
              <a:lnSpc>
                <a:spcPct val="108000"/>
              </a:lnSpc>
              <a:spcAft>
                <a:spcPts val="800"/>
              </a:spcAft>
              <a:defRPr sz="1080">
                <a:solidFill>
                  <a:srgbClr val="DCE5E7"/>
                </a:solidFill>
                <a:latin typeface="Aptos"/>
              </a:defRPr>
            </a:pPr>
            <a:r>
              <a:t>• Embed CSR into risk &amp; strategic planning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144768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C2E5D3"/>
                </a:solidFill>
                <a:latin typeface="Aptos"/>
              </a:defRPr>
            </a:pPr>
            <a:r>
              <a:t>Target outcome: traceable sourcing • measurable impact • resilient operations • stronger international buyer confidence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94360" y="438912"/>
            <a:ext cx="914400" cy="54864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43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C2E5D3"/>
                </a:solidFill>
                <a:latin typeface="Aptos"/>
              </a:defRPr>
            </a:pPr>
            <a:r>
              <a:t>09 • 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66928"/>
            <a:ext cx="1088136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8FAF9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124712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97A9B1"/>
                </a:solidFill>
                <a:latin typeface="Aptos"/>
              </a:defRPr>
            </a:pPr>
            <a:r>
              <a:t>From responsible intent to measurable, scalable sustainability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75488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500" b="1">
                <a:solidFill>
                  <a:srgbClr val="324B54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10744200" cy="1828800"/>
          </a:xfrm>
          <a:prstGeom prst="roundRect">
            <a:avLst/>
          </a:prstGeom>
          <a:solidFill>
            <a:srgbClr val="0F393C"/>
          </a:solidFill>
          <a:ln>
            <a:solidFill>
              <a:srgbClr val="147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993392"/>
            <a:ext cx="10195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9"/>
                </a:solidFill>
                <a:latin typeface="Aptos Display"/>
              </a:defRPr>
            </a:pPr>
            <a:r>
              <a:t>CLB EXIM’s sustainability journey is strategically relevant to its future in global mica trade.</a:t>
            </a:r>
          </a:p>
          <a:p>
            <a:pPr>
              <a:spcBef>
                <a:spcPts val="900"/>
              </a:spcBef>
              <a:defRPr sz="1200">
                <a:solidFill>
                  <a:srgbClr val="DCE5E7"/>
                </a:solidFill>
                <a:latin typeface="Aptos"/>
              </a:defRPr>
            </a:pPr>
            <a:r>
              <a:t>The report’s strongest themes are ethical sourcing, environmental stewardship, employee/community welfare, stakeholder transparency and international CSR alignment. The next leap is stronger traceability, impact measurement and scalable digital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977639"/>
            <a:ext cx="3401568" cy="141732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977639"/>
            <a:ext cx="64008" cy="1417320"/>
          </a:xfrm>
          <a:prstGeom prst="rect">
            <a:avLst/>
          </a:prstGeom>
          <a:solidFill>
            <a:srgbClr val="147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6968" y="4123944"/>
            <a:ext cx="3035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01 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4553712"/>
            <a:ext cx="303580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DCE5E7"/>
                </a:solidFill>
                <a:latin typeface="Aptos"/>
              </a:defRPr>
            </a:pPr>
            <a:r>
              <a:t>Responsible sourcing and transparent reporting can strengthen credibility with global buyers.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7408" y="3977639"/>
            <a:ext cx="3401568" cy="141732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07408" y="3977639"/>
            <a:ext cx="64008" cy="1417320"/>
          </a:xfrm>
          <a:prstGeom prst="rect">
            <a:avLst/>
          </a:prstGeom>
          <a:solidFill>
            <a:srgbClr val="499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08576" y="4123944"/>
            <a:ext cx="30358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02  RESILIENCE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4553712"/>
            <a:ext cx="3035808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DCE5E7"/>
                </a:solidFill>
                <a:latin typeface="Aptos"/>
              </a:defRPr>
            </a:pPr>
            <a:r>
              <a:t>Integrating CSR into risk and strategy can reduce exposure to labour, regulatory and reputational risks.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29016" y="3977639"/>
            <a:ext cx="3300984" cy="1417320"/>
          </a:xfrm>
          <a:prstGeom prst="roundRect">
            <a:avLst/>
          </a:prstGeom>
          <a:solidFill>
            <a:srgbClr val="122738"/>
          </a:solidFill>
          <a:ln>
            <a:solidFill>
              <a:srgbClr val="2E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29016" y="3977639"/>
            <a:ext cx="64008" cy="1417320"/>
          </a:xfrm>
          <a:prstGeom prst="rect">
            <a:avLst/>
          </a:prstGeom>
          <a:solidFill>
            <a:srgbClr val="DAB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30184" y="4123944"/>
            <a:ext cx="2935224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8FAF9"/>
                </a:solidFill>
                <a:latin typeface="Aptos Display"/>
              </a:defRPr>
            </a:pPr>
            <a:r>
              <a:t>03  MEASUREMENT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4553712"/>
            <a:ext cx="2935224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DCE5E7"/>
                </a:solidFill>
                <a:latin typeface="Aptos"/>
              </a:defRPr>
            </a:pPr>
            <a:r>
              <a:t>Better KPIs and third-party verification can turn sustainability claims into demonstrable performance.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71500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19">
                <a:solidFill>
                  <a:srgbClr val="97A9B1"/>
                </a:solidFill>
                <a:latin typeface="Aptos"/>
              </a:defRPr>
            </a:pPr>
            <a:r>
              <a:t>Primary source: “A Study on Sustainability and CSR in International Trade in CLB EXIM” — S.I.P Report, Pritam Saha.</a:t>
            </a:r>
          </a:p>
          <a:p>
            <a:pPr>
              <a:defRPr sz="919">
                <a:solidFill>
                  <a:srgbClr val="97A9B1"/>
                </a:solidFill>
                <a:latin typeface="Aptos"/>
              </a:defRPr>
            </a:pPr>
            <a:r>
              <a:t>Academic project submitted to Vidyasagar University • Bengal Institute of Business Studies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565392"/>
            <a:ext cx="10972800" cy="10972"/>
          </a:xfrm>
          <a:prstGeom prst="rect">
            <a:avLst/>
          </a:prstGeom>
          <a:solidFill>
            <a:srgbClr val="304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6601968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7A9B1"/>
                </a:solidFill>
                <a:latin typeface="Aptos"/>
              </a:defRPr>
            </a:pPr>
            <a:r>
              <a:t>Source: S.I.P Report — Pritam Saha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44200" y="6574536"/>
            <a:ext cx="8229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 b="1">
                <a:solidFill>
                  <a:srgbClr val="C2E5D3"/>
                </a:solidFill>
                <a:latin typeface="Aptos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1250</Words>
  <Application>Microsoft Office PowerPoint</Application>
  <PresentationFormat>Widescreen</PresentationFormat>
  <Paragraphs>186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Sustainability &amp; CSR in International Trade — CLB EXIM</dc:title>
  <dc:subject>Professional 10-slide presentation based on Pritam Saha's S.I.P Report</dc:subject>
  <dc:creator>Pritam Saha</dc:creator>
  <cp:keywords>CLB EXIM, sustainability, CSR, international trade, mica, ESG</cp:keywords>
  <dc:description>Created from the uploaded S.I.P Report; concise portfolio-ready presentation.</dc:description>
  <cp:lastModifiedBy>Pritam Saha</cp:lastModifiedBy>
  <cp:revision>2</cp:revision>
  <dcterms:created xsi:type="dcterms:W3CDTF">2013-01-27T09:14:16Z</dcterms:created>
  <dcterms:modified xsi:type="dcterms:W3CDTF">2026-08-27T09:56:48Z</dcterms:modified>
  <cp:category/>
</cp:coreProperties>
</file>